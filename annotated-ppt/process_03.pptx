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hyperlink" Target="https://www.youtube.com/watch?v=ohwI3V207Ts" TargetMode="Externa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81050" y="1123950"/>
            <a:ext cx="1000125" cy="5715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81050" y="1562100"/>
            <a:ext cx="9715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笔记本电脑制造流程</a:t>
            </a:r>
            <a:endParaRPr sz="39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00100" y="251460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rPr>
              <a:t>从主板、显示总成与散热模组到整机测试包装</a:t>
            </a:r>
            <a:endParaRPr sz="2025" b="0">
              <a:solidFill>
                <a:srgbClr val="D6E4F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00100" y="561975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典型产品流程整理</a:t>
            </a:r>
            <a:endParaRPr sz="1350" b="0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59817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工序顺序　人工与设备分工　待核信息</a:t>
            </a:r>
            <a:endParaRPr sz="1275" b="0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PROCESS OVERVIEW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笔记本电脑生产流程总览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028700"/>
            <a:ext cx="1095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典型流程分为五个阶段；板卡与模组可能由外部供应商提供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52400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524000"/>
            <a:ext cx="914400" cy="800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16383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828800" y="162877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结构件与来料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00550" y="162877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上 / 下壳、铰链与显示总成来料准备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2447925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2447925"/>
            <a:ext cx="914400" cy="800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00100" y="256222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828800" y="255270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关键模组预制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400550" y="2552700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键盘、触控板、电池和散热模组子装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337185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3371850"/>
            <a:ext cx="914400" cy="800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0100" y="348615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828800" y="347662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PCBA 制造与检测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400550" y="347662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主板 SMT、AOI、板测与 BIOS 写入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5800" y="4295775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5800" y="4295775"/>
            <a:ext cx="914400" cy="800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00100" y="441007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828800" y="440055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整机装配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400550" y="4400550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主板、线束、散热和屏幕总成装配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521970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5800" y="5219700"/>
            <a:ext cx="914400" cy="800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00100" y="53340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828800" y="532447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整机测试与包装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400550" y="532447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系统配置、接口测试、老化与包装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工序细节按产品典型结构整理；具体顺序以现场工艺文件为准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结构件与核心部件来料准备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A01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上盖 / 下壳来料检查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扫码核对材质、颜色与机型，检查平面度、螺柱和外观。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A02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壳体加工与表面处理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按产品结构完成开孔、喷涂或表面处理，首件核验关键尺寸。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A03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铰链与支架检查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核对左右铰链、扭力、安装孔位和线束通道。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表面处理、清洁与模组检查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A04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显示总成点亮筛查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检查显示坏点、亮度、色偏和摄像头窗口外观。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A05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键盘与触控板检查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测试按键、背光（适用）和触控板外观及连接器。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A06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电池包来料核验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扫码确认容量和型号，检查电压、外观与接口。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A07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散热模组备料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清点风扇、热管 / 均热板、导热垫和绝缘片。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关键子组件预装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A08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扬声器与 I/O 小板备料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按左右声道和接口版本核对扬声器、接口板与线束。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A09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内存 / SSD 配置备料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按工单准备内存条和 SSD，核对容量、序列号和版本。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A10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螺丝与辅料齐套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 BOM 配置螺丝、泡棉、导电布和标签，避免错料漏料。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B · MODULE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模块与外壳预装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B01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显示屏与上盖子装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按结构安装屏幕、摄像头和天线；检查排线走向与铰链动作。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B02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键盘 / 触控板子装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装入键盘、触控板和支撑件，检查按压手感与平整度。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B03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风扇与热管子装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将风扇与散热片 / 热管组合，检查风道、螺孔和导热面。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PROCESS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PCB 上料与 SMT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C01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主板上料与版本扫码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核对板号、处理器配置及载具，将主板扫码绑定工单。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2669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26695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4098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419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C02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381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锡膏印刷与 SPI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7241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印刷锡膏并检查焊盘覆盖、体积和偏移。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2766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2766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4194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4290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C03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390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SMT 贴片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37338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贴装 CPU 周边、电源、存储、接口和无线器件。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42862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428625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44291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44386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C04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44005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回流焊接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47434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按设定温度曲线完成焊接，监控炉温记录。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8650" y="52959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8650" y="52959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" y="54387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54483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C05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57350" y="54102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AOI / X-ray 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57350" y="57531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AOI 检查元件与焊点；高密度器件按工艺使用 X-ray。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2766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757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" y="47853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" y="57950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PROCESS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通孔件、焊后检查与板测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C06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内存 / 连接器后装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依主板设计安装通孔件、连接器和屏蔽罩并完成焊接。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C07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板面清洁与复核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检查焊点、器件偏移、板面残留和接口状态。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C08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ICT / 边界扫描（适用）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通过治具检查电气网络或数字链路，异常板隔离。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C09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BIOS / EC 烧录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写入 BIOS、EC 或安全密钥版本，记录板号和软件版本。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TEST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板级功能测试与数据写入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C10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板级上电测试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检查启动、功耗、内存识别、显示输出和基础接口。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C11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无线 / 网卡校验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检测无线网卡识别和天线接口，具体 RF 项按工厂方案。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C12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不良返修复测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维修人员处理板级异常并复测，合格后恢复流转。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09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BOARD HANDLING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主板防护、扫码与线边备料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2447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2447925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C13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板卡防静电包装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扫码后放入防静电袋或载具，保护主板及连接器。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3790950"/>
            <a:ext cx="10934700" cy="2447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3790950"/>
            <a:ext cx="104775" cy="2447925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C14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配置上线复核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4248150"/>
            <a:ext cx="9572625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按工单核对 CPU、内存、SSD 和主板版本后发往装配。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10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D · BOARD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板卡与功能部件安装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D01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主板贴绝缘与导热材料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按工艺贴附绝缘膜、导热垫和导电泡棉，核对位置。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D02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 I/O 小板与扬声器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固定接口板、扬声器及线束，检查线缆避让。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D03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涂导热材料并安装散热器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设备或人工按规格涂敷导热膏，按顺序锁附散热模组。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D04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连接键盘 / 屏幕排线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插接触控板、键盘、显示、摄像头和天线线缆。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11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4" name="矩形 4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D · SYSTEM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整机内部装配顺序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028700"/>
            <a:ext cx="1095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以下为典型装配顺序；不同结构可能前后调整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5525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15525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18288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562100" y="16668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准备下壳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562100" y="20288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清洁定位面，按机型核对下壳与辅料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0" y="15525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0" y="15525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81750" y="18288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181850" y="16668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 I/O 与扬声器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181850" y="20288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固定接口板、扬声器和无线天线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6750" y="27527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" y="27527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62000" y="30289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562100" y="28670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装入主板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562100" y="32289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对准定位柱锁附并扫码绑定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286500" y="27527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286500" y="27527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381750" y="30289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181850" y="28670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连接线束与排线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181850" y="32289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连接键盘、触控板、屏幕和电池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6750" y="39528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66750" y="39528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62000" y="42291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562100" y="40671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安装散热组件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562100" y="44291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涂导热材料并锁附风扇 / 热管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286500" y="39528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286500" y="39528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381750" y="42291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181850" y="40671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安装内存、SSD 与电池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181850" y="44291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核对配置后插入并固定部件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66750" y="51530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66750" y="51530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62000" y="54292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562100" y="52673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合盖与铰链检查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562100" y="56292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安装上盖、锁附螺丝并测试开合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上述步骤按现有观察整理，逐项时间戳和实际顺序待核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12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07136" y="23279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6886" y="23279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7136" y="3528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6886" y="3528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7136" y="47282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26886" y="47282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7136" y="59283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E · FINAL TEST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整机功能测试与封装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E01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开机与 BIOS 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确认 POST、配置识别、BIOS 版本和序列号绑定。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E02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屏幕 / 键盘 / 触控板测试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检查显示、全键扫描、背光和触控板响应。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E03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接口与通信测试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逐项测试 USB、HDMI、音频、读卡器、Wi-Fi 和蓝牙。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E04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电池与电源测试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检查充电、放电、电源适配器识别和休眠唤醒。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13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E · PACKAGING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最终检查、清洁与成品包装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E05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散热与压力测试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按规范检查风扇、温度、噪声和稳定性。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E06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老化与复测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按产品规范运行老化程序，失败品隔离并复测。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E07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外观、配件与包装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检查屏幕、壳体、标签、适配器、说明书及装箱数量。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14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VALIDATION ITEMS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现场核实清单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配置防错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CPU / 内存 / SSD 与系统映像如何和工单、序列号绑定？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2669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26695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4098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419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381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散热装配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7241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导热膏用量、散热器锁附顺序和风扇测试标准是什么？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2766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2766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4194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4290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390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测试范围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37338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接口、无线、电池、温升、噪音及老化的测试覆盖率如何？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42862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428625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44291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44386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44005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显示总成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47434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屏幕坏点标准、键盘布局和显示版本怎样防止混装？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8650" y="52959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8650" y="52959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" y="54387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54483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57350" y="54102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制造模式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57350" y="57531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BIOS / EC / OS 出厂设置与解锁工序由哪站负责？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15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SOURCE &amp; SCOPE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参考资料与整理说明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8097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笔记本电脑制造流程：典型制造流程</a:t>
            </a:r>
            <a:endParaRPr sz="18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3526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  <a:hlinkClick r:id="rId1"/>
              </a:rPr>
              <a:t>Dell 官方支持资料含工厂制造模式与设备诊断说明：dell.com/support；PCBA 标准目录：ipc.org/standards</a:t>
            </a:r>
            <a:endParaRPr sz="1350" b="0">
              <a:solidFill>
                <a:srgbClr val="2E6FA3"/>
              </a:solidFill>
              <a:latin typeface="Noto Sans CJK SC"/>
              <a:ea typeface="Noto Sans CJK SC"/>
              <a:cs typeface="Noto Sans CJK SC"/>
              <a:hlinkClick r:id="rId1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9908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资料用于确认共性工艺和测试类型，不代表特定工厂完整生产路线。</a:t>
            </a:r>
            <a:endParaRPr sz="150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4095750"/>
            <a:ext cx="10429875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42576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rPr>
              <a:t>整理原则</a:t>
            </a:r>
            <a:endParaRPr sz="1500" b="1">
              <a:solidFill>
                <a:srgbClr val="173B6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571750" y="4210050"/>
            <a:ext cx="8286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这是一份产品类别级的典型流程示意。实际流程、设备边界、工艺参数、检验标准和不良品处理规则，需以现场 SOP、BOM、设备文件及工艺人员确认为准。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典型产品流程整理；具体工艺名称、设备边界与质量标准需现场核实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16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800">
                <a:solidFill>
                  <a:srgbClr val="243448"/>
                </a:solidFill>
                <a:latin typeface="Noto Sans CJK SC"/>
              </a:defRPr>
            </a:pPr>
            <a:r>
              <a:t>人工作业标注说明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789920" cy="438912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本次标注保留原始流程内容；原页工序码下增加标记，后附逐项分工。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红色 人工✓：原文明确有人参与；不等于该工序全部人工完成。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橙色 人工?：典型人工操作，现场作业方式待确认。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紫色 人机?：典型人机配合，人工负责上下料/接线/核对等。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青色 设备：核心工艺由设备执行，辅助人工边界待核。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下文“人工具体操作”和“设备/工具边界”须结合阅读。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原文未写明的人机分工属于推定，不作为现场已确认事实。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72200"/>
            <a:ext cx="10972800" cy="3657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以现场 SOP、设备清单及工艺人员确认为准；不据此直接核定人员或节拍。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笔记本电脑制造流程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原第3页 · A01  上盖 / 下壳来料检查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人工：典型人工：扫码核对材质、颜色与机型，检查平面度、螺柱和外观。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原第3页 · A02  壳体加工与表面处理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人工：典型人工：工件核对、装夹/定位、上下料及加工/贴合后外观复核；自动上下料时需调整。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设备/工具：加工、喷涂、点胶、压合或固化由相应设备完成；手工作业范围需按现场 SOP 确认。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原第3页 · A03  铰链与支架检查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人工：典型人工：核对左右铰链、扭力、安装孔位和线束通道。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原第4页 · A04  显示总成点亮筛查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设备/工具：仪器或软件执行显示总成点亮筛查；测量、计算、烧录/校准不直接算作人工。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笔记本电脑制造流程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A05  键盘与触控板检查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人工：典型人工：测试按键、背光（适用）和触控板外观及连接器。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A06  电池包来料核验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人工：典型人工：扫码确认容量和型号，检查电压、外观与接口。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A07  散热模组备料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人工：典型人工：清点风扇、热管 / 均热板、导热垫和绝缘片。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A08  扬声器与 I/O 小板备料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人工：典型人工：按左右声道和接口版本核对扬声器、接口板与线束。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笔记本电脑制造流程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A09  内存 / SSD 配置备料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人工：典型人工：按工单准备内存条和 SSD，核对容量、序列号和版本。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A10  螺丝与辅料齐套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 BOM 配置螺丝、泡棉、导电布和标签，避免错料漏料。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B01  显示屏与上盖子装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人工：典型人工：按结构安装屏幕、摄像头和天线；检查排线走向与铰链动作。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B02  键盘 / 触控板子装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人工：典型人工：装入键盘、触控板和支撑件，检查按压手感与平整度。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笔记本电脑制造流程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B03  风扇与热管子装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人工：典型人工：将风扇与散热片 / 热管组合，检查风道、螺孔和导热面。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原第7页 · C01  主板上料与版本扫码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人工：典型人工：核对板号、处理器配置及载具，将主板扫码绑定工单。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C02  锡膏印刷与 SPI  【设备为主】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设备/工具：设备执行锡膏印刷与 SPI，不得把自动检测或贴装本身标成人工。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C03  SMT 贴片  【设备为主】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设备/工具：设备执行SMT 贴片，不得把自动检测或贴装本身标成人工。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笔记本电脑制造流程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C04  回流焊接  【设备为主】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设备/工具：设备执行回流焊接，不得把自动检测或贴装本身标成人工。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C05  AOI / X-ray 检查  【设备为主】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设备/工具：设备执行AOI / X-ray 检查，不得把自动检测或贴装本身标成人工。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原第8页 · C06  内存 / 连接器后装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人工：典型人工：核对器件与方向、插装/固定连接器或通孔件、检查到位；手焊还是专机焊接需确认。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设备/工具：焊接可能使用人工焊台、波峰焊或选择焊；不能仅凭“焊接”确定人工。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原第8页 · C07  板面清洁与复核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人工：典型人工：检查焊点、器件偏移、板面残留和接口状态。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笔记本电脑制造流程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原第8页 · C08  ICT / 边界扫描（适用）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人工：典型人工：通过治具检查电气网络或数字链路，异常板隔离。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原第8页 · C09  BIOS / EC 烧录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设备/工具：仪器或软件执行BIOS / EC 烧录；测量、计算、烧录/校准不直接算作人工。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C10  板级上电测试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设备/工具：仪器或软件执行板级上电测试；测量、计算、烧录/校准不直接算作人工。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原第9页 · C11  无线 / 网卡校验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人工：典型人工：检测无线网卡识别和天线接口，具体 RF 项按工厂方案。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笔记本电脑制造流程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原第9页 · C12  不良返修复测  【明确人工】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人工：人工定位不良、实施维修、标识与隔离；维修后按原项目重新送测。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设备/工具：测试设备执行复测并记录结果。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原第10页 · C13  板卡防静电包装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人工：典型人工：扫码后放入防静电袋或载具，保护主板及连接器。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原第10页 · C14  配置上线复核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人工：典型人工：按工单核对 CPU、内存、SSD 和主板版本后发往装配。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D01  主板贴绝缘与导热材料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人工：典型人工：按工艺贴附绝缘膜、导热垫和导电泡棉，核对位置。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笔记本电脑制造流程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D02  安装 I/O 小板与扬声器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人工：典型人工：固定接口板、扬声器及线束，检查线缆避让。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原第11页 · D03  涂导热材料并安装散热器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人工：原文列出人工/设备两种可能。若采用人工：设备或人工按规格涂敷导热膏，按顺序锁附散热模组；具体人工范围待现场确认。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设备/工具：原文允许设备或专机替代，不能认定现场一定有人工作业。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D04  连接键盘 / 屏幕排线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人工：典型人工：插接触控板、键盘、显示、摄像头和天线线缆。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装配01  准备下壳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人工：典型人工：清洁定位面，按机型核对下壳与辅料。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笔记本电脑制造流程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装配02  安装 I/O 与扬声器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人工：典型人工：固定接口板、扬声器和无线天线。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装配03  装入主板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人工：典型人工：对准定位柱锁附并扫码绑定。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装配04  连接线束与排线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人工：典型人工：连接键盘、触控板、屏幕和电池。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装配05  安装散热组件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人工：典型人工：涂导热材料并锁附风扇 / 热管。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笔记本电脑制造流程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装配06  安装内存、SSD 与电池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人工：典型人工：核对配置后插入并固定部件。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装配07  合盖与铰链检查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人工：典型人工：安装上盖、锁附螺丝并测试开合。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原第13页 · E01  开机与 BIOS 检查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人工：典型人工：确认 POST、配置识别、BIOS 版本和序列号绑定。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E02  屏幕 / 键盘 / 触控板测试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设备/工具：仪器或软件执行屏幕 / 键盘 / 触控板测试；测量、计算、烧录/校准不直接算作人工。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笔记本电脑制造流程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E03  接口与通信测试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设备/工具：仪器或软件执行接口与通信测试；测量、计算、烧录/校准不直接算作人工。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E04  电池与电源测试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设备/工具：仪器或软件执行电池与电源测试；测量、计算、烧录/校准不直接算作人工。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原第14页 · E05  散热与压力测试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设备/工具：仪器或软件执行散热与压力测试；测量、计算、烧录/校准不直接算作人工。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原第14页 · E06  老化与复测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人工：典型人工：摆放/装夹样品、连接负载、设置或选取程序、检查结果并隔离异常；外观/配件检查仍需单独确认。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设备/工具：老化、负载、寿命、跌落或运输模拟由相应设备执行；原文中的手工检查/包装与设备试验分开统计。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笔记本电脑制造流程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原第14页 · E07  外观、配件与包装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人工：典型人工：检查屏幕、壳体、标签、适配器、说明书及装箱数量。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2995</Words>
  <Application>WPS 演示</Application>
  <PresentationFormat>Converted Presentation</PresentationFormat>
  <Paragraphs>470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Noto Sans CJK SC</vt:lpstr>
      <vt:lpstr>Segoe Print</vt:lpstr>
      <vt:lpstr>Aptos</vt:lpstr>
      <vt:lpstr>Segoe UI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WPS_1791966835</cp:lastModifiedBy>
  <cp:revision>2</cp:revision>
  <dcterms:created xsi:type="dcterms:W3CDTF">2026-10-23T08:01:00Z</dcterms:created>
  <dcterms:modified xsi:type="dcterms:W3CDTF">2026-10-23T08:34:39Z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E0B73F00473A42E98C241F75063B7B75_13</vt:lpwstr>
  </property>
  <property fmtid="{D5CDD505-2E9C-101B-9397-08002B2CF9AE}" pid="3" name="KSOProductBuildVer">
    <vt:lpwstr>2052-12.1.0.29162</vt:lpwstr>
  </property>
</Properties>
</file>