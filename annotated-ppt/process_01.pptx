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hyperlink" Target="https://www.youtube.com/watch?v=ohwI3V207Ts" TargetMode="Externa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81050" y="1123950"/>
            <a:ext cx="1000125" cy="5715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1562100"/>
            <a:ext cx="971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手机制造流程</a:t>
            </a:r>
            <a:endParaRPr sz="39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00100" y="251460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rPr>
              <a:t>从零部件与主板制造到整机测试、包装</a:t>
            </a:r>
            <a:endParaRPr sz="2025" b="0">
              <a:solidFill>
                <a:srgbClr val="D6E4F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0100" y="56197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典型产品流程整理</a:t>
            </a:r>
            <a:endParaRPr sz="1350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59817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工序顺序　人工与设备分工　待核信息</a:t>
            </a:r>
            <a:endParaRPr sz="1275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PROCESS OVERVIEW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手机生产流程总览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典型流程分为五个阶段；板卡与模组可能由外部供应商提供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5240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524000"/>
            <a:ext cx="914400" cy="800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16383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828800" y="16287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结构件与来料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00550" y="16287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中框、玻璃、后盖及小件加工与检验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44792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2447925"/>
            <a:ext cx="914400" cy="800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0100" y="256222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828800" y="255270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关键模组预制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00550" y="255270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显示、摄像头、电池等模组准备与贴合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337185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3371850"/>
            <a:ext cx="914400" cy="800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0100" y="348615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828800" y="347662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PCBA 制造与检测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400550" y="347662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PCBA：SMT、插件、板测与数据绑定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429577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4295775"/>
            <a:ext cx="914400" cy="800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00100" y="441007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828800" y="44005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整机装配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400550" y="440055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主板与功能模组装配、整机写号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52197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5800" y="5219700"/>
            <a:ext cx="914400" cy="800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00100" y="53340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828800" y="53244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整机测试与包装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400550" y="53244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射频、显示、声学、防护测试与包装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工序细节按产品典型结构整理；具体顺序以现场工艺文件为准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结构件与核心部件来料准备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中框来料与外观检查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人工扫码核对型号、颜色与批次，检查划伤、变形和孔位。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中框 CNC / 冲压加工（依结构）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设备加工按键孔、接口孔和定位面；人工负责装夹、取件与首件核对。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去毛刺与清洗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加工后去除毛刺、切屑和油污，按表面要求清洗、干燥。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表面处理、清洁与模组检查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A04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表面处理与色差检查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外观件按工艺进行阳极氧化、喷涂或其他处理，颜色和表面质量按限度样检查。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A05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玻璃盖板清洁与检查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人工或设备检查玻璃划伤、崩边和异物，贴合面保持洁净。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A06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显示模组来料点亮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测试屏幕显示、触控和外观，按序列号记录模组信息。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A07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摄像头模组检查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清洁镜头窗口并检查外观、连接器和模组条码。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关键子组件预装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电池包来料核验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扫码核对电池型号、外观与电压，确认极性和批次。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辅料备料与定位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 BOM 准备防水胶、缓冲泡棉、导电布和标签，防止错料。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A10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小件与天线备料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准备扬声器、听筒、振动器、麦克风、天线及按键组件。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B · MODULE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模块与外壳预装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B01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显示模组与盖板贴合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贴合设备在洁净环境中完成贴合；人工上料、下料并检查偏位、气泡和异物。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B02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摄像头 / 声学模组预装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按结构装配摄像头支架、听筒网罩和扬声器防尘件，检查定位。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B03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中框密封件预装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贴附密封胶、泡棉与导电材料，检查连续性、位置和离型膜清除。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PCB 上料与 SMT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PCB 上料与扫码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人工核对板号和版本，将 PCB 放入载具并扫码绑定工单。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锡膏印刷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设备通过钢网向焊盘印刷锡膏，检查印刷偏移和缺锡。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SPI 印刷检查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SPI 检查锡膏体积、高度和位置，异常板按规则隔离。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C04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SMT 贴片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贴片机按程序放置处理器、电源、射频和小型被动元件。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C05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回流焊接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PCB 按温度曲线通过回流炉，使锡膏熔化并形成焊点。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2766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757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4785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" y="57950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通孔件、焊后检查与板测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C06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AOI 外观检查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AOI 检查元件有无、偏移、极性和焊接外观，人工复核报警项。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C07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屏蔽罩与通孔件后装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人工或专机安装屏蔽罩、连接器等部件，依据工艺完成焊接。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焊后清洁与外观检查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按工艺要求清除残留物，检查焊点、板面和连接器状态。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ICT / 边界扫描（适用）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治具连接测试点，检查开短路、器件值或数字链路，失败板隔离。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板级功能测试与数据写入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C10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板级上电测试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测试设备检查电流、启动、充电和基础接口，保存测试结果。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射频校准与写号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通过测试治具写入或绑定 IMEI、序列号及校准数据。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板测不良返修复测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维修人员按不良代码处理，复测合格后恢复流转。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BOARD HANDLING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主板防护、扫码与线边备料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主板防护与周转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人工扫码、装入防静电保护袋或周转盘，保护连接器与板面。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379095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379095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主板备料与版本防错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424815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上线前核对主板版本、机型配置和工单，防止不同版本混装。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BOARD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板卡与功能部件安装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贴附主板绝缘与导电材料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按图纸位置贴附绝缘膜、导电布和屏蔽辅料，检查方向与覆盖范围。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安装主板与连接器件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主板对准定位柱后锁附，连接显示、摄像头、按键及充电排线。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安装扬声器与振动器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将声学和振动组件放入定位结构，锁附并检查线缆避让。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安装电池与天线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按规范固定电池，连接天线同轴线并确认接口到位。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" name="矩形 4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SYSTEM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整机内部装配顺序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以下为典型装配顺序；不同结构可能前后调整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6210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准备中框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56210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清洁装配面并确认胶材、密封件和型号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8175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18185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装入主板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18185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定位锁附，扫码绑定主板与机身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6210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连接软排线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56210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按顺序插接显示、摄像头和按键排线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28650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8650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8175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18185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装入声学部件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18185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安装听筒、扬声器、麦克风与振动器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6675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6200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56210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连接天线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56210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接入同轴线并检查卡扣与走线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28650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28650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38175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18185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安装电池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18185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固定电池并连接电源接口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66750" y="51530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51530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62000" y="54292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562100" y="52673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贴合屏幕与后盖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562100" y="56292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压合固化后检查缝隙、偏位和外观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上述步骤按现有观察整理，逐项时间戳和实际顺序待核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0713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688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713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688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713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688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7136" y="5928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FINAL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整机功能测试与封装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开机与充电检查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检查开机、电流、充电识别和电池信息；记录不良码。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显示与触控检查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测试亮度、色彩、坏点、多点触控和屏幕边缘响应。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摄像头与传感器测试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检查前后摄像头、对焦、闪光灯、距离与姿态传感器。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射频与通信测试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在规定测试环境检查蜂窝、Wi-Fi、蓝牙、GNSS 等功能。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PACKAGING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最终检查、清洁与成品包装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声学与按键测试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检查听筒、扬声器、麦克风、振动和实体按键。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E06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防水与气密抽检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按机型规范执行气密或防水抽检，记录测试结果。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E07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外观、标签与包装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清洁整机、扫码核对标签，装入附件并按包装清单复核。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VALIDATION ITEMS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现场核实清单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结构与外观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中框加工、玻璃贴合和胶材型号是否由本厂完成？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板卡边界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主板是否自制？SMT、AOI、ICT 和板测哪些在厂内？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校准写号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IMEI / SN / 射频校准数据由哪一站写入并追溯？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测试标准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显示、射频、声学、防水各项全检还是抽检？不良如何分流？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装配与包装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胶材固化时间、压合参数、附件清单和复测规则是什么？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SOURCE &amp; SCOPE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参考资料与整理说明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8097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手机制造流程：典型制造流程</a:t>
            </a:r>
            <a:endParaRPr sz="18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3526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  <a:hlinkClick r:id="rId1"/>
              </a:rPr>
              <a:t>Galax</a:t>
            </a:r>
            <a:r>
              <a:rPr>
                <a:sym typeface="+mn-ea"/>
                <a:hlinkClick r:id="rId1"/>
              </a:rPr>
              <a:t>Samsung </a:t>
            </a:r>
            <a:r>
              <a: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  <a:hlinkClick r:id="rId1"/>
              </a:rPr>
              <a:t>y 工厂与可靠性测试公开资料：news.samsung.com/global；PCBA 标准目录：ipc.org/standards</a:t>
            </a:r>
            <a:endParaRPr sz="1350" b="0">
              <a:solidFill>
                <a:srgbClr val="2E6FA3"/>
              </a:solidFill>
              <a:latin typeface="Noto Sans CJK SC"/>
              <a:ea typeface="Noto Sans CJK SC"/>
              <a:cs typeface="Noto Sans CJK SC"/>
              <a:hlinkClick r:id="rId1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9908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资料用于确认共性工艺和测试类型，不代表特定工厂完整生产路线。</a:t>
            </a:r>
            <a:endParaRPr sz="150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4095750"/>
            <a:ext cx="10429875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42576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rPr>
              <a:t>整理原则</a:t>
            </a:r>
            <a:endParaRPr sz="1500" b="1">
              <a:solidFill>
                <a:srgbClr val="173B6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571750" y="4210050"/>
            <a:ext cx="8286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这是一份产品类别级的典型流程示意。实际流程、设备边界、工艺参数、检验标准和不良品处理规则，需以现场 SOP、BOM、设备文件及工艺人员确认为准。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典型产品流程整理；具体工艺名称、设备边界与质量标准需现场核实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800">
                <a:solidFill>
                  <a:srgbClr val="243448"/>
                </a:solidFill>
                <a:latin typeface="Noto Sans CJK SC"/>
              </a:defRPr>
            </a:pPr>
            <a:r>
              <a:t>人工作业标注说明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789920" cy="438912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本次标注保留原始流程内容；原页工序码下增加标记，后附逐项分工。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红色 人工✓：原文明确有人参与；不等于该工序全部人工完成。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橙色 人工?：典型人工操作，现场作业方式待确认。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紫色 人机?：典型人机配合，人工负责上下料/接线/核对等。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青色 设备：核心工艺由设备执行，辅助人工边界待核。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下文“人工具体操作”和“设备/工具边界”须结合阅读。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原文未写明的人机分工属于推定，不作为现场已确认事实。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72200"/>
            <a:ext cx="10972800" cy="3657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以现场 SOP、设备清单及工艺人员确认为准；不据此直接核定人员或节拍。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手机制造流程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原第3页 · A01  中框来料与外观检查  【明确人工】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人工：人工扫码核对型号、颜色与批次，检查划伤、变形和孔位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设备/工具：可使用扫码器、电批、手持仪表或工装；使用工具仍属于人工操作。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原第3页 · A02  中框 CNC / 冲压加工（依结构）  【明确人工】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人工：人工负责装夹、取件与首件核对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设备/工具：设备完成加工/处理动作；具体设备名称及自动转运边界以原文待核项为准。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原第3页 · A03  去毛刺与清洗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人工：典型人工：检查毛刺/残留，手工修整或擦拭、上下料、取件及洁净复核；是否全自动需确认。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设备/工具：清洗、干燥或去毛刺可由专机完成，原文未明确方式。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原第4页 · A04  表面处理与色差检查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人工：典型人工：工件核对、装夹/定位、上下料及加工/贴合后外观复核；自动上下料时需调整。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设备/工具：加工、喷涂、点胶、压合或固化由相应设备完成；手工作业范围需按现场 SOP 确认。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手机制造流程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原第4页 · A05  玻璃盖板清洁与检查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人工：原文列出人工/设备两种可能。若采用人工：人工或设备检查玻璃划伤、崩边和异物，贴合面保持洁净；具体人工范围待现场确认。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设备/工具：原文允许设备或专机替代，不能认定现场一定有人工作业。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原第4页 · A06  显示模组来料点亮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设备/工具：仪器或软件执行显示模组来料点亮；测量、计算、烧录/校准不直接算作人工。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A07  摄像头模组检查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人工：典型人工：清洁镜头窗口并检查外观、连接器和模组条码。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A08  电池包来料核验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人工：典型人工：扫码核对电池型号、外观与电压，确认极性和批次。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手机制造流程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A09  辅料备料与定位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 BOM 准备防水胶、缓冲泡棉、导电布和标签，防止错料。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A10  小件与天线备料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人工：典型人工：准备扬声器、听筒、振动器、麦克风、天线及按键组件。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原第6页 · B01  显示模组与盖板贴合  【明确人工】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人工：人工上料、下料并检查偏位、气泡和异物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设备/工具：设备完成加工/处理动作；具体设备名称及自动转运边界以原文待核项为准。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B02  摄像头 / 声学模组预装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人工：典型人工：按结构装配摄像头支架、听筒网罩和扬声器防尘件，检查定位。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手机制造流程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B03  中框密封件预装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人工：典型人工：贴附密封胶、泡棉与导电材料，检查连续性、位置和离型膜清除。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原第7页 · C01  PCB 上料与扫码  【明确人工】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人工：人工核对板号和版本，将 PCB 放入载具并扫码绑定工单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设备/工具：可使用扫码器、电批、手持仪表或工装；使用工具仍属于人工操作。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C02  锡膏印刷  【设备为主】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设备/工具：设备执行锡膏印刷，不得把自动检测或贴装本身标成人工。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C03  SPI 印刷检查  【设备为主】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设备/工具：设备执行SPI 印刷检查，不得把自动检测或贴装本身标成人工。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手机制造流程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C04  SMT 贴片  【设备为主】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设备/工具：设备执行SMT 贴片，不得把自动检测或贴装本身标成人工。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C05  回流焊接  【设备为主】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设备/工具：设备执行回流焊接，不得把自动检测或贴装本身标成人工。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原第8页 · C06  AOI 外观检查  【明确人工】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人工：AOI 检查元件有无、偏移、极性和焊接外观，人工复核报警项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设备/工具：设备执行AOI 外观检查；人工仅承担所列辅助操作。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C07  屏蔽罩与通孔件后装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人工：原文列出人工/设备两种可能。若采用人工：人工或专机安装屏蔽罩、连接器等部件，依据工艺完成焊接；具体人工范围待现场确认。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设备/工具：原文允许设备或专机替代，不能认定现场一定有人工作业。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手机制造流程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原第8页 · C08  焊后清洁与外观检查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人工：典型人工：按工艺要求清除残留物，检查焊点、板面和连接器状态。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原第8页 · C09  ICT / 边界扫描（适用）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人工：典型人工：治具连接测试点，检查开短路、器件值或数字链路，失败板隔离。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C10  板级上电测试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设备/工具：仪器或软件执行板级上电测试；测量、计算、烧录/校准不直接算作人工。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C11  射频校准与写号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设备/工具：仪器或软件执行射频校准与写号；测量、计算、烧录/校准不直接算作人工。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手机制造流程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原第9页 · C12  板测不良返修复测  【明确人工】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人工：人工定位不良、实施维修、标识与隔离；维修后按原项目重新送测。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设备/工具：测试设备执行复测并记录结果。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原第10页 · C13  主板防护与周转  【明确人工】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人工：人工扫码、装入防静电保护袋或周转盘，保护连接器与板面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设备/工具：可使用扫码器、电批、手持仪表或工装；使用工具仍属于人工操作。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原第10页 · C14  主板备料与版本防错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人工：典型人工：上线前核对主板版本、机型配置和工单，防止不同版本混装。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D01  贴附主板绝缘与导电材料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人工：典型人工：按图纸位置贴附绝缘膜、导电布和屏蔽辅料，检查方向与覆盖范围。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手机制造流程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D02  安装主板与连接器件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人工：典型人工：主板对准定位柱后锁附，连接显示、摄像头、按键及充电排线。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D03  安装扬声器与振动器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人工：典型人工：将声学和振动组件放入定位结构，锁附并检查线缆避让。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D04  安装电池与天线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人工：典型人工：按规范固定电池，连接天线同轴线并确认接口到位。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装配01  准备中框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人工：典型人工：清洁装配面并确认胶材、密封件和型号。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手机制造流程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装配02  装入主板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人工：典型人工：定位锁附，扫码绑定主板与机身。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装配03  连接软排线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人工：典型人工：按顺序插接显示、摄像头和按键排线。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装配04  装入声学部件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人工：典型人工：安装听筒、扬声器、麦克风与振动器。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装配05  连接天线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人工：典型人工：接入同轴线并检查卡扣与走线。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手机制造流程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装配06  安装电池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人工：典型人工：固定电池并连接电源接口。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原第12页 · 装配07  贴合屏幕与后盖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人工：典型人工：工件核对、装夹/定位、上下料及加工/贴合后外观复核；自动上下料时需调整。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设备/工具：加工、喷涂、点胶、压合或固化由相应设备完成；手工作业范围需按现场 SOP 确认。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原第13页 · E01  开机与充电检查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人工：典型人工：检查开机、电流、充电识别和电池信息；记录不良码。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原第13页 · E02  显示与触控检查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人工：典型人工：测试亮度、色彩、坏点、多点触控和屏幕边缘响应。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手机制造流程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E03  摄像头与传感器测试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设备/工具：仪器或软件执行摄像头与传感器测试；测量、计算、烧录/校准不直接算作人工。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E04  射频与通信测试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设备/工具：仪器或软件执行射频与通信测试；测量、计算、烧录/校准不直接算作人工。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原第14页 · E05  声学与按键测试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设备/工具：仪器或软件执行声学与按键测试；测量、计算、烧录/校准不直接算作人工。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原第14页 · E06  防水与气密抽检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人工：典型人工：按机型规范执行气密或防水抽检，记录测试结果。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手机制造流程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原第14页 · E07  外观、标签与包装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人工：典型人工：清洁整机、扫码核对标签，装入附件并按包装清单复核。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3053</Words>
  <Application>WPS 演示</Application>
  <PresentationFormat>Converted Presentation</PresentationFormat>
  <Paragraphs>470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Noto Sans CJK SC</vt:lpstr>
      <vt:lpstr>Segoe Print</vt:lpstr>
      <vt:lpstr>Aptos</vt:lpstr>
      <vt:lpstr>Segoe UI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WPS_1791966835</cp:lastModifiedBy>
  <cp:revision>3</cp:revision>
  <dcterms:created xsi:type="dcterms:W3CDTF">2026-10-23T08:01:00Z</dcterms:created>
  <dcterms:modified xsi:type="dcterms:W3CDTF">2026-10-23T08:38:39Z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CC429CCA678343C390930DC31FF369DC_13</vt:lpwstr>
  </property>
  <property fmtid="{D5CDD505-2E9C-101B-9397-08002B2CF9AE}" pid="3" name="KSOProductBuildVer">
    <vt:lpwstr>2052-12.1.0.29162</vt:lpwstr>
  </property>
</Properties>
</file>