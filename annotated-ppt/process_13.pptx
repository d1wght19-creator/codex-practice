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开场说明：本次汇报根据提供的视频观察整理，重点说明工序先后、操作对象、人工动作和设备动作。无法确认的工艺名称会标为待核。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先介绍五个生产阶段。外壳加工、PCB 制造、整机装配与测试包装分属不同工段。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说明铝料从毛坯进入外壳加工。现有笔记记录到液压设备和敲击动作，无法据此确认是冲压、压制还是 CNC 加工。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强调挂架和成批转运。A05 的槽液用途及 A07 各水槽的具体作用需要现场确认。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笔记暂记为电镀/表面处理，但画面不足以区分电镀、阳极氧化或其他工艺。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说明这部分将外壳加工与整机装配连接起来。涂胶和嵌入动作清楚，材料和设备参数需要确认。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回流焊用于焊接表面贴装元件。视频无法确认后检设备是否为 AOI。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这一段有明显的人工扫码、治具固定、分工插件、清理和目视检查。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I/O 测试中人工插拔接口，测试电脑执行检测。失败后的复测和隔离步骤尚未从视频中确认。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视频中装袋可能是工序间防护包装，不一定是最终包装。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材料名称与位置需以 BOM 或现场确认结果为准。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说明视频约 15:50 到 17:30 的整机装配片段。列出笔记中观察到的项目，但准确先后需要逐帧核对。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视频能看到插线测试、安装散热部件、防尘盖、底盖和脚垫；判定标准尚未掌握。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配件清单、封装方式和每箱装机数量需按正式包装清单确认。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正式工艺名称以现场 SOP、BOM、设备铭牌或工艺人员确认为准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说明来源是用户提供的公开视频链接和观察笔记。报告未依据视频推断工厂正式工艺标准。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hyperlink" Target="https://www.youtube.com/watch?v=ohwI3V207Ts" TargetMode="External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B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81050" y="1123950"/>
            <a:ext cx="1000125" cy="5715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81050" y="1562100"/>
            <a:ext cx="9715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迷你主机制造流程</a:t>
            </a:r>
            <a:endParaRPr sz="390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00100" y="251460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D6E4F0"/>
                </a:solidFill>
                <a:latin typeface="Noto Sans CJK SC"/>
                <a:ea typeface="Noto Sans CJK SC"/>
                <a:cs typeface="Noto Sans CJK SC"/>
              </a:rPr>
              <a:t>从铝合金外壳加工到整机测试与包装</a:t>
            </a:r>
            <a:endParaRPr sz="2025" b="0">
              <a:solidFill>
                <a:srgbClr val="D6E4F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00100" y="56197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根据视频观察整理</a:t>
            </a:r>
            <a:endParaRPr sz="1350" b="0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598170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工序顺序　人工与设备分工　待核信息</a:t>
            </a:r>
            <a:endParaRPr sz="1275" b="0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" name="矩形 3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PROCESS OVERVIEW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迷你主机生产流程总览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028700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视频中可见的生产过程分为五个阶段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52400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5800" y="1524000"/>
            <a:ext cx="914400" cy="800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00100" y="16383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828800" y="16287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铝合金外壳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400550" y="162877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成形与加工、清洗、喷砂、表面处理、激光标识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2447925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85800" y="2447925"/>
            <a:ext cx="914400" cy="800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00100" y="256222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828800" y="255270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外壳结合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400550" y="2552700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塑料内壳涂胶、装入铝壳、加热或压合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337185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" y="3371850"/>
            <a:ext cx="914400" cy="800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00100" y="348615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828800" y="347662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PCB 制造与检测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400550" y="347662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SMT、通孔元件插件与焊接、I/O 测试、点胶与清洁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5800" y="4295775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85800" y="4295775"/>
            <a:ext cx="914400" cy="800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00100" y="4410075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828800" y="4400550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主板与整机装配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400550" y="4400550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导热材料与散热部件、主板入壳、内存和 SSD 等安装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5219700"/>
            <a:ext cx="108204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5800" y="5219700"/>
            <a:ext cx="914400" cy="800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00100" y="5334000"/>
            <a:ext cx="685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22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828800" y="5324475"/>
            <a:ext cx="2381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整机测试与包装</a:t>
            </a:r>
            <a:endParaRPr sz="165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400550" y="5324475"/>
            <a:ext cx="68199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功能复测、外观与音频检查、清洁扫码、装盒装箱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视频画面约从 06:50 开始；整机装配片段约 15:50–17:30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ALUMINUM HOUSING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铝壳初步成形与加工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A01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铝料成形（待核）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人工将圆片状铝料放入液压设备，压制后取出并再次压制，随后放入收集篮。设备的准确工艺名称待核。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A02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外壳加工与清洗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人工将毛坯放入加工设备并在加工后取件。设备执行加工和机器清洗，是否属于 CNC 外形铣削待核。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A03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接口开口加工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人工将铝壳反面放入定位夹具并装入定位件。设备加工接口开口并再次清洗，随后人工取件并转入抛光/整理工位。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根据视频画面整理；工艺名称和质量标准需现场核实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SURFACE PREPARATION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铝壳清洗与喷砂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A04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挂架装件与转运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人工逐个将铝壳挂到带挂钩的挂架上，成批步行送往下一工位。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A05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化学槽清洗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挂架放入清洗设备或化学槽。设备执行清洗，人工负责挂架上下料或转运，自动转移边界待核。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A06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磨料喷砂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人工将铝壳固定在专用夹具/挂具上并送入喷砂区域，设备完成喷砂。介质和参数待核。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A07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喷砂后多槽清洗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人工将工件重新挂架、搬运并初步冲洗，再依次放入约三个净水槽清洗，之后送往表面处理工位。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根据视频画面整理；工艺名称和质量标准需现场核实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A · FINISHING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铝壳表面处理与标识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A08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表面处理与干燥（待核）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人工将挂架放入处理槽，取出后沥液或晾置，再送往下一工位。处理类型及是否有独立烘干设备待核。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A09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表面参数检测（待核）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操作人员用手持探头扫描表面并读取参数，之后冲洗、晾干。仪器测量指标和抽检比例待核。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A10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激光雕刻标识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人工从挂架取下单个铝壳并放到激光设备定位台。设备雕刻品牌或产品标识，人工取件送往装配。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根据视频画面整理；工艺名称和质量标准需现场核实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B · HOUSING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塑料内壳与铝壳结合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B01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塑料内壳涂胶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人工将塑料内壳放到设备工装，设备带动内壳旋转或移动，并在指定区域涂胶。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B02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塑料内壳装入铝壳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人工对准内外壳位置并将塑料内壳嵌入铝壳，然后把组合件放到压合/加热设备。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258C8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EAF5F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58C8A"/>
                </a:solidFill>
                <a:latin typeface="Noto Sans CJK SC"/>
                <a:ea typeface="Noto Sans CJK SC"/>
                <a:cs typeface="Noto Sans CJK SC"/>
              </a:rPr>
              <a:t>B03</a:t>
            </a:r>
            <a:endParaRPr sz="1275" b="1">
              <a:solidFill>
                <a:srgbClr val="258C8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加热或压合（待核）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设备对组合件施压或加热，使内外壳固定结合。设备功能究竟是加热、压合还是固化待核。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根据视频画面整理；工艺名称和质量标准需现场核实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8B5AAA"/>
                </a:solidFill>
                <a:latin typeface="Noto Sans CJK SC"/>
              </a:defRPr>
            </a:pPr>
            <a:r>
              <a:t>人机?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PROCESS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裸 PCB 上料与 SMT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C01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裸 PCB 上料与定位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人工将 PCB 放入载具或金属托盘，定位后用胶带固定四角，再送入 SMT 生产线。载具名称待核。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2669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26695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4098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419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C02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381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锡膏印刷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7241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设备通过钢网将锡膏印到 PCB 焊盘，印刷完成后 PCB 自动流向贴片机。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2766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2766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4194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C03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390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贴片机贴装元件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37338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贴片机按程序将表面贴装元件放到 PCB 对应位置，随后送往回流焊。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62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428625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442912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4438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C04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44005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回流焊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47434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设备按温度曲线加热，使锡膏熔化并形成焊点。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2959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295900"/>
            <a:ext cx="104775" cy="923925"/>
          </a:xfrm>
          <a:prstGeom prst="rect">
            <a:avLst/>
          </a:prstGeom>
          <a:solidFill>
            <a:srgbClr val="2E6FA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5438775"/>
            <a:ext cx="628650" cy="342900"/>
          </a:xfrm>
          <a:prstGeom prst="rect">
            <a:avLst/>
          </a:prstGeom>
          <a:solidFill>
            <a:srgbClr val="EAF2F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54483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rPr>
              <a:t>C05</a:t>
            </a:r>
            <a:endParaRPr sz="1275" b="1">
              <a:solidFill>
                <a:srgbClr val="2E6FA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54102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SMT 后自动检查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7350" y="57531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自动设备检查元件位置或焊接外观，设备名称待核。人工收板并放入周转箱。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回流焊是 SMT 元件焊接步骤；检查设备名称尚未核实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2766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757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" y="47853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247C86"/>
                </a:solidFill>
                <a:latin typeface="Noto Sans CJK SC"/>
              </a:defRPr>
            </a:pPr>
            <a:r>
              <a:t>设备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" y="57950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PROCESS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通孔元件插件与焊后检查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C06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人工插入通孔元件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操作人员扫码并将 PCB 固定在带卡扣的治具中，多名人员分工插入较大的通孔元件。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C07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插件检查与焊接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人工检查元件是否插到位，再将 PCB/治具放入焊接位置。完成焊接后放回流水线，焊接方式待核。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C08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焊后清理与拆保护件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人工清理焊剂残留，并用镊子移除部分元件上的保护橡胶/塞件。保护件名称和用途待核。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7256A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1EEF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7256A6"/>
                </a:solidFill>
                <a:latin typeface="Noto Sans CJK SC"/>
                <a:ea typeface="Noto Sans CJK SC"/>
                <a:cs typeface="Noto Sans CJK SC"/>
              </a:rPr>
              <a:t>C09</a:t>
            </a:r>
            <a:endParaRPr sz="1275" b="1">
              <a:solidFill>
                <a:srgbClr val="7256A6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贴标签与外观检查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人工粘贴标签并检查焊点、元件和板面。合格主板送往 I/O 测试，不良品处置待核。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根据视频画面整理；工艺名称和质量标准需现场核实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PCB TEST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主板接口测试与点胶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C10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I/O 接口测试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人工扫码绑定主板、装入治具并按顺序连接测试模块。测试电脑执行接口检测，测试件和接口顺序待核。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C11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CPU 指定区域点胶与 UV 固化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人工将主板放入定位模具，设备自动点胶并进行 UV 固化。胶水位置与固化设备待核。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C12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主板表面清洁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人工擦拭或清洁主板表面，再将主板放回流水线。清洁材料和验收标准待核。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根据视频画面整理；工艺名称和质量标准需现场核实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C · BOARD HANDLING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主板临时包装与辅料处理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2447925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C13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主板扫码、装袋与装箱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人工扫码后将主板放入防护袋，再放入周转箱/纸箱并转往下一工位。需确认这是临时防护还是成品包装。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3790950"/>
            <a:ext cx="10934700" cy="2447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3790950"/>
            <a:ext cx="104775" cy="2447925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C14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电池电压测量与导热垫贴装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4248150"/>
            <a:ext cx="9572625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人工从包装袋取出主板，用手持仪器测量 BIOS/CMOS 电池电压，贴放导热垫并撕除保护膜。仪器与判定标准待核。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根据视频画面整理；工艺名称和质量标准需现场核实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D · BOARD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散热部件安装与主板入壳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D01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CPU 周边材料与标签贴装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人工在 CPU 周边和主板背面贴附中空方形材料、黑色条状材料及标签。正式名称和用途待核。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D02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安装散热器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人工在指定位置涂导热膏，将散热组件对准主板并锁螺丝，随后检查贴合与锁附状态。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D03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 CPU 风扇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人工放置风扇并锁螺丝，再贴附用于固定部件/线缆的贴片或胶带，具体用途待核。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8F1E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97721"/>
                </a:solidFill>
                <a:latin typeface="Noto Sans CJK SC"/>
                <a:ea typeface="Noto Sans CJK SC"/>
                <a:cs typeface="Noto Sans CJK SC"/>
              </a:rPr>
              <a:t>D04</a:t>
            </a:r>
            <a:endParaRPr sz="1275" b="1">
              <a:solidFill>
                <a:srgbClr val="B9772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主板组件放入铝壳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人工将主板组件对准外壳内部定位结构并放入，检查接口、螺孔和线缆是否对齐。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根据视频画面整理；工艺名称和质量标准需现场核实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" name="矩形 4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D · SYSTEM ASSEMBLY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整机内部装配顺序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028700"/>
            <a:ext cx="1095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视频约 15:50–17:30，准确先后仍需逐帧核对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" y="15525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15525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18288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62100" y="16668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安装底盖螺柱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562100" y="2028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形成主板与部件的安装支撑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0" y="15525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0" y="15525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81750" y="18288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181850" y="16668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 USB / 音频小板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181850" y="20288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放入对应位置并固定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6750" y="27527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6750" y="27527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62000" y="30289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62100" y="28670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安装前置 I/O 子板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562100" y="32289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安装前面板接口相关子板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286500" y="27527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86500" y="27527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81750" y="30289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181850" y="28670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安装无线天线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181850" y="32289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放到机壳指定位置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6750" y="39528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66750" y="39528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62000" y="42291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562100" y="40671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连接天线与无线网卡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562100" y="4429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连接馈线并检查接头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286500" y="395287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286500" y="395287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381750" y="422910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181850" y="40671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 RAM 内存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181850" y="44291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插入内存并确认卡扣到位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66750" y="5153025"/>
            <a:ext cx="5219700" cy="1028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66750" y="5153025"/>
            <a:ext cx="704850" cy="1028700"/>
          </a:xfrm>
          <a:prstGeom prst="rect">
            <a:avLst/>
          </a:prstGeom>
          <a:solidFill>
            <a:srgbClr val="B97721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62000" y="5429250"/>
            <a:ext cx="514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 sz="1875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562100" y="52673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 NVMe 固态硬盘</a:t>
            </a:r>
            <a:endParaRPr sz="1500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562100" y="562927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插入 SSD 并按结构固定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上述步骤按现有观察整理，逐项时间戳和实际顺序待核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07136" y="23279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26886" y="23279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7136" y="3528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6886" y="3528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7136" y="47282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6886" y="472821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7136" y="59283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B36A00"/>
                </a:solidFill>
                <a:latin typeface="Noto Sans CJK SC"/>
              </a:defRPr>
            </a:pPr>
            <a:r>
              <a:t>人工?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E · FINAL TEST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整机功能测试与封底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E01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整机功能测试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人工将整机接入治具，连接 USB 和显示设备；测试电脑运行程序并显示结果。项目与标准待核。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52412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524125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66700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6765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E02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6384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安装 NVMe 散热片与防尘盖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98132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人工放置散热片/压片并锁螺丝，再安装底部防尘盖并检查固定状态。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790950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790950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9338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943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E03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905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外观检查与底盖封装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4248150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人工检查机身和接口，安装底盖、贴标签并锁螺丝，检查盖板平整和螺丝齐全。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5057775"/>
            <a:ext cx="1093470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5057775"/>
            <a:ext cx="104775" cy="1181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520065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521017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E04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517207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复测、脚垫安装与称重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5514975"/>
            <a:ext cx="9572625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电脑/设备再次确认运行状态；人工安装四角脚垫并称重。需确认复测与 E01 的区别。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根据视频画面整理；工艺名称和质量标准需现场核实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13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" y="30232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2900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555688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STAGE E · PACKAGING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音频检查、清洁与成品包装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E05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扬声器与麦克风测试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人工连接 USB 并将整机接入测试系统，电脑执行音频测试，完成后放回流水线。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943225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943225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3086100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3095625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E06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30575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警示标签、外观检查与清洁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3400425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人工贴警示标签，检查并擦拭整机，再扫描产品标签确认无遗漏。警示标签类别待核。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4629150"/>
            <a:ext cx="109347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4629150"/>
            <a:ext cx="104775" cy="16002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47720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47815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E07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47434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装盒、放入配件与装箱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5086350"/>
            <a:ext cx="9572625" cy="1076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人工准备保护材料并将整机装入产品包装；加入电源、说明书等配件，封装后装入运输箱。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根据视频画面整理；工艺名称和质量标准需现场核实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536" y="1756409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3442335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128260"/>
            <a:ext cx="694944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C24135"/>
                </a:solidFill>
                <a:latin typeface="Noto Sans CJK SC"/>
              </a:defRPr>
            </a:pPr>
            <a:r>
              <a:t>人工✓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28016"/>
            <a:ext cx="4297680" cy="219456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Noto Sans CJK SC"/>
              </a:defRPr>
            </a:pPr>
            <a:r>
              <a:t>✓ 原文明确人工　? 典型分工待核　详见文末标注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VALIDATION ITEMS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汇报前需要核实的信息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28650" y="12573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2573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66775" y="14001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4097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57350" y="13716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外壳工艺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57350" y="17145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初段设备是压制、冲压还是 CNC 加工；表面处理类型；手持仪器测量的参数。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28650" y="22669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226695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66775" y="24098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14400" y="24193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57350" y="23812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PCB 工艺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657350" y="27241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SMT 后检查设备名称；通孔焊接方式；被镊子移除的保护件名称。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8650" y="32766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" y="32766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66775" y="34194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14400" y="34290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57350" y="33909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主板辅料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657350" y="37338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CPU 周边贴片和黑色材料的 BOM 名称、用途、型号与位置。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28650" y="428625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8650" y="428625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66775" y="442912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4400" y="443865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657350" y="440055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测试与包装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57350" y="474345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I/O、整机和音频测试标准；不良品流向；配件清单、扫码/称重记录。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" y="5295900"/>
            <a:ext cx="10934700" cy="923925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" y="5295900"/>
            <a:ext cx="104775" cy="923925"/>
          </a:xfrm>
          <a:prstGeom prst="rect">
            <a:avLst/>
          </a:prstGeom>
          <a:solidFill>
            <a:srgbClr val="B85C5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66775" y="5438775"/>
            <a:ext cx="628650" cy="342900"/>
          </a:xfrm>
          <a:prstGeom prst="rect">
            <a:avLst/>
          </a:prstGeom>
          <a:solidFill>
            <a:srgbClr val="F8ECE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5448300"/>
            <a:ext cx="533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B85C50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 sz="1275" b="1">
              <a:solidFill>
                <a:srgbClr val="B85C50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54102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顺序与时间</a:t>
            </a:r>
            <a:endParaRPr sz="15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657350" y="5753100"/>
            <a:ext cx="9572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逐道工序补充时间戳，重点核对铝壳工序顺序和整机装配顺序。</a:t>
            </a:r>
            <a:endParaRPr sz="1275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15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0" y="0"/>
            <a:ext cx="12192000" cy="97155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933450"/>
            <a:ext cx="12192000" cy="38100"/>
          </a:xfrm>
          <a:prstGeom prst="rect">
            <a:avLst/>
          </a:prstGeom>
          <a:solidFill>
            <a:srgbClr val="173B6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1333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B9D3E8"/>
                </a:solidFill>
                <a:latin typeface="Noto Sans CJK SC"/>
                <a:ea typeface="Noto Sans CJK SC"/>
                <a:cs typeface="Noto Sans CJK SC"/>
              </a:rPr>
              <a:t>SOURCE &amp; SCOPE</a:t>
            </a:r>
            <a:endParaRPr sz="1125" b="1">
              <a:solidFill>
                <a:srgbClr val="B9D3E8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52450" y="352425"/>
            <a:ext cx="1095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视频来源与说明</a:t>
            </a:r>
            <a:endParaRPr sz="2550" b="1">
              <a:solidFill>
                <a:srgbClr val="FFFF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8097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0354A"/>
                </a:solidFill>
                <a:latin typeface="Noto Sans CJK SC"/>
                <a:ea typeface="Noto Sans CJK SC"/>
                <a:cs typeface="Noto Sans CJK SC"/>
              </a:rPr>
              <a:t>迷你主机生产视频</a:t>
            </a:r>
            <a:endParaRPr sz="1875" b="1">
              <a:solidFill>
                <a:srgbClr val="2035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352675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2E6FA3"/>
                </a:solidFill>
                <a:latin typeface="Noto Sans CJK SC"/>
                <a:ea typeface="Noto Sans CJK SC"/>
                <a:cs typeface="Noto Sans CJK SC"/>
                <a:hlinkClick r:id="rId1"/>
              </a:rPr>
              <a:t>https://www.youtube.com/watch?v=ohwI3V207Ts</a:t>
            </a:r>
            <a:endParaRPr sz="1350" b="0">
              <a:solidFill>
                <a:srgbClr val="2E6FA3"/>
              </a:solidFill>
              <a:latin typeface="Noto Sans CJK SC"/>
              <a:ea typeface="Noto Sans CJK SC"/>
              <a:cs typeface="Noto Sans CJK SC"/>
              <a:hlinkClick r:id="rId1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990850"/>
            <a:ext cx="1028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重点观察：约 06:50 起的生产画面；约 15:50–17:30 的整机装配片段。</a:t>
            </a:r>
            <a:endParaRPr sz="150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1050" y="4095750"/>
            <a:ext cx="10429875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B"/>
            </a:solidFill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42576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173B63"/>
                </a:solidFill>
                <a:latin typeface="Noto Sans CJK SC"/>
                <a:ea typeface="Noto Sans CJK SC"/>
                <a:cs typeface="Noto Sans CJK SC"/>
              </a:rPr>
              <a:t>整理原则</a:t>
            </a:r>
            <a:endParaRPr sz="1500" b="1">
              <a:solidFill>
                <a:srgbClr val="173B63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571750" y="4210050"/>
            <a:ext cx="8286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按画面记录动作和流转。设备型号、工艺参数、检验标准、材料名称和不良品处理规则，仍需通过现场 SOP、BOM 或工艺人员核实。</a:t>
            </a:r>
            <a:endParaRPr sz="1350" b="0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E1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71500" y="64960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6B7D8E"/>
                </a:solidFill>
                <a:latin typeface="Noto Sans CJK SC"/>
                <a:ea typeface="Noto Sans CJK SC"/>
                <a:cs typeface="Noto Sans CJK SC"/>
              </a:rPr>
              <a:t>根据视频画面整理；工艺名称和质量标准需现场核实</a:t>
            </a:r>
            <a:endParaRPr sz="975" b="0">
              <a:solidFill>
                <a:srgbClr val="6B7D8E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087100" y="6486525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3677B"/>
                </a:solidFill>
                <a:latin typeface="Noto Sans CJK SC"/>
                <a:ea typeface="Noto Sans CJK SC"/>
                <a:cs typeface="Noto Sans CJK SC"/>
              </a:rPr>
              <a:t>16</a:t>
            </a:r>
            <a:endParaRPr sz="1050" b="1">
              <a:solidFill>
                <a:srgbClr val="53677B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54864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800">
                <a:solidFill>
                  <a:srgbClr val="243448"/>
                </a:solidFill>
                <a:latin typeface="Noto Sans CJK SC"/>
              </a:defRPr>
            </a:pPr>
            <a:r>
              <a:t>人工作业标注说明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789920" cy="438912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本次标注保留原始流程内容；原页工序码下增加标记，后附逐项分工。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红色 人工✓：原文明确有人参与；不等于该工序全部人工完成。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橙色 人工?：典型人工操作，现场作业方式待确认。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紫色 人机?：典型人机配合，人工负责上下料/接线/核对等。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青色 设备：核心工艺由设备执行，辅助人工边界待核。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下文“人工具体操作”和“设备/工具边界”须结合阅读。</a:t>
            </a:r>
          </a:p>
          <a:p>
            <a:pPr>
              <a:defRPr sz="1900">
                <a:solidFill>
                  <a:srgbClr val="243448"/>
                </a:solidFill>
                <a:latin typeface="Noto Sans CJK SC"/>
              </a:defRPr>
            </a:pPr>
            <a:r>
              <a:t>原文未写明的人机分工属于推定，不作为现场已确认事实。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172200"/>
            <a:ext cx="10972800" cy="3657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以现场 SOP、设备清单及工艺人员确认为准；不据此直接核定人员或节拍。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原第3页 · A01  铝料成形（待核）  【明确人工】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人工：人工将圆片状铝料放入液压设备，压制后取出并再次压制，随后放入收集篮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设备/工具：设备完成加工/处理动作；具体设备名称及自动转运边界以原文待核项为准。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原第3页 · A02  外壳加工与清洗  【明确人工】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人工：人工将毛坯放入加工设备并在加工后取件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设备/工具：设备完成加工/处理动作；具体设备名称及自动转运边界以原文待核项为准。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原第3页 · A03  接口开口加工  【明确人工】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人工：人工将铝壳反面放入定位夹具并装入定位件；设备加工接口开口并再次清洗，随后人工取件并转入抛光/整理工位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设备/工具：设备完成加工/处理动作；具体设备名称及自动转运边界以原文待核项为准。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原第4页 · A04  挂架装件与转运  【明确人工】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人工：人工逐个将铝壳挂到带挂钩的挂架上，成批步行送往下一工位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设备/工具：可使用扫码器、电批、手持仪表或工装；使用工具仍属于人工操作。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原第4页 · A05  化学槽清洗  【明确人工】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人工：设备执行清洗，人工负责挂架上下料或转运，自动转移边界待核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设备/工具：设备完成加工/处理动作；具体设备名称及自动转运边界以原文待核项为准。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原第4页 · A06  磨料喷砂  【明确人工】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人工：人工将铝壳固定在专用夹具/挂具上并送入喷砂区域，设备完成喷砂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设备/工具：设备完成加工/处理动作；具体设备名称及自动转运边界以原文待核项为准。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原第4页 · A07  喷砂后多槽清洗  【明确人工】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人工：人工将工件重新挂架、搬运并初步冲洗，再依次放入约三个净水槽清洗，之后送往表面处理工位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设备/工具：设备完成加工/处理动作；具体设备名称及自动转运边界以原文待核项为准。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原第5页 · A08  表面处理与干燥（待核）  【明确人工】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人工：人工将挂架放入处理槽，取出后沥液或晾置，再送往下一工位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设备/工具：设备完成加工/处理动作；具体设备名称及自动转运边界以原文待核项为准。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原第5页 · A09  表面参数检测（待核）  【明确人工】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人工：操作人员用手持探头扫描表面并读取参数，之后冲洗、晾干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设备/工具：仪器/测试电脑执行测量或程序判定，人工完成操作与结果处置。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原第5页 · A10  激光雕刻标识  【明确人工】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人工：人工从挂架取下单个铝壳并放到激光设备定位台；设备雕刻品牌或产品标识，人工取件送往装配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设备/工具：设备完成加工/处理动作；具体设备名称及自动转运边界以原文待核项为准。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原第6页 · B01  塑料内壳涂胶  【明确人工】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人工：人工将塑料内壳放到设备工装，设备带动内壳旋转或移动，并在指定区域涂胶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设备/工具：设备完成加工/处理动作；具体设备名称及自动转运边界以原文待核项为准。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原第6页 · B02  塑料内壳装入铝壳  【明确人工】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人工：人工对准内外壳位置并将塑料内壳嵌入铝壳，然后把组合件放到压合/加热设备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设备/工具：可使用扫码器、电批、手持仪表或工装；使用工具仍属于人工操作。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8B5AAA"/>
                </a:solidFill>
                <a:latin typeface="Noto Sans CJK SC"/>
              </a:defRPr>
            </a:pPr>
            <a:r>
              <a:t>原第6页 · B03  加热或压合（待核）  【人机配合·待核】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人工：典型人工：工件核对、装夹/定位、上下料及加工/贴合后外观复核；自动上下料时需调整。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设备/工具：加工、喷涂、点胶、压合或固化由相应设备完成；手工作业范围需按现场 SOP 确认。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原第7页 · C01  裸 PCB 上料与定位  【明确人工】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人工：人工将 PCB 放入载具或金属托盘，定位后用胶带固定四角，再送入 SMT 生产线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设备/工具：可使用扫码器、电批、手持仪表或工装；使用工具仍属于人工操作。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C02  锡膏印刷  【设备为主】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设备/工具：设备执行锡膏印刷，不得把自动检测或贴装本身标成人工。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C03  贴片机贴装元件  【设备为主】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设备/工具：设备执行贴片机贴装元件，不得把自动检测或贴装本身标成人工。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247C86"/>
                </a:solidFill>
                <a:latin typeface="Noto Sans CJK SC"/>
              </a:defRPr>
            </a:pPr>
            <a:r>
              <a:t>原第7页 · C04  回流焊  【设备为主】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人工：原文未明确人工操作；换料、设备点检及异常复核岗位需现场确认。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设备/工具：设备执行回流焊，不得把自动检测或贴装本身标成人工。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原第7页 · C05  SMT 后自动检查  【明确人工】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人工：人工收板并放入周转箱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设备/工具：设备执行SMT 后自动检查；人工仅承担所列辅助操作。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原第8页 · C06  人工插入通孔元件  【明确人工】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人工：操作人员扫码并将 PCB 固定在带卡扣的治具中，多名人员分工插入较大的通孔元件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设备/工具：可使用扫码器、电批、手持仪表或工装；使用工具仍属于人工操作。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原第8页 · C07  插件检查与焊接  【明确人工】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人工：人工检查元件是否插到位，再将 PCB/治具放入焊接位置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设备/工具：可使用扫码器、电批、手持仪表或工装；使用工具仍属于人工操作。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原第8页 · C08  焊后清理与拆保护件  【明确人工】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人工：人工清理焊剂残留，并用镊子移除部分元件上的保护橡胶/塞件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设备/工具：可使用扫码器、电批、手持仪表或工装；使用工具仍属于人工操作。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原第8页 · C09  贴标签与外观检查  【明确人工】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人工：人工粘贴标签并检查焊点、元件和板面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设备/工具：可使用扫码器、电批、手持仪表或工装；使用工具仍属于人工操作。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原第9页 · C10  I/O 接口测试  【明确人工】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人工：人工扫码绑定主板、装入治具并按顺序连接测试模块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设备/工具：仪器/测试电脑执行测量或程序判定，人工完成操作与结果处置。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原第9页 · C11  CPU 指定区域点胶与 UV 固化  【明确人工】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人工：人工将主板放入定位模具，设备自动点胶并进行 UV 固化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设备/工具：设备完成加工/处理动作；具体设备名称及自动转运边界以原文待核项为准。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原第9页 · C12  主板表面清洁  【明确人工】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人工：人工擦拭或清洁主板表面，再将主板放回流水线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设备/工具：可使用扫码器、电批、手持仪表或工装；使用工具仍属于人工操作。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原第10页 · C13  主板扫码、装袋与装箱  【明确人工】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人工：人工扫码后将主板放入防护袋，再放入周转箱/纸箱并转往下一工位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设备/工具：可使用扫码器、电批、手持仪表或工装；使用工具仍属于人工操作。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原第10页 · C14  电池电压测量与导热垫贴装  【明确人工】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人工：人工从包装袋取出主板，用手持仪器测量 BIOS/CMOS 电池电压，贴放导热垫并撕除保护膜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设备/工具：仪器/测试电脑执行测量或程序判定，人工完成操作与结果处置。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原第11页 · D01  CPU 周边材料与标签贴装  【明确人工】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人工：人工在 CPU 周边和主板背面贴附中空方形材料、黑色条状材料及标签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设备/工具：可使用扫码器、电批、手持仪表或工装；使用工具仍属于人工操作。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原第11页 · D02  安装散热器  【明确人工】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人工：人工在指定位置涂导热膏，将散热组件对准主板并锁螺丝，随后检查贴合与锁附状态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设备/工具：可使用扫码器、电批、手持仪表或工装；使用工具仍属于人工操作。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原第11页 · D03  安装 CPU 风扇  【明确人工】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人工：人工放置风扇并锁螺丝，再贴附用于固定部件/线缆的贴片或胶带，具体用途待核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设备/工具：可使用扫码器、电批、手持仪表或工装；使用工具仍属于人工操作。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原第11页 · D04  主板组件放入铝壳  【明确人工】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人工：人工将主板组件对准外壳内部定位结构并放入，检查接口、螺孔和线缆是否对齐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设备/工具：可使用扫码器、电批、手持仪表或工装；使用工具仍属于人工操作。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装配01  安装底盖螺柱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人工：典型人工：形成主板与部件的安装支撑。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装配02  安装 USB / 音频小板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人工：典型人工：放入对应位置并固定。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装配03  安装前置 I/O 子板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人工：典型人工：安装前面板接口相关子板。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装配04  安装无线天线  【典型人工·待核】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人工：典型人工：放到机壳指定位置。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装配05  连接天线与无线网卡  【典型人工·待核】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人工：典型人工：连接馈线并检查接头。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装配06  安装 RAM 内存  【典型人工·待核】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人工：典型人工：插入内存并确认卡扣到位。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B36A00"/>
                </a:solidFill>
                <a:latin typeface="Noto Sans CJK SC"/>
              </a:defRPr>
            </a:pPr>
            <a:r>
              <a:t>原第12页 · 装配07  安装 NVMe 固态硬盘  【典型人工·待核】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人工：典型人工：插入 SSD 并按结构固定。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设备/工具：扫码器、电批、定位治具或量具为辅助工具；自动锁附、自动贴附、机器视觉及物流替代范围待核。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原第13页 · E01  整机功能测试  【明确人工】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人工：人工将整机接入治具，连接 USB 和显示设备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设备/工具：仪器/测试电脑执行测量或程序判定，人工完成操作与结果处置。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原第13页 · E02  安装 NVMe 散热片与防尘盖  【明确人工】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人工：人工放置散热片/压片并锁螺丝，再安装底部防尘盖并检查固定状态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设备/工具：可使用扫码器、电批、手持仪表或工装；使用工具仍属于人工操作。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原第13页 · E03  外观检查与底盖封装  【明确人工】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人工：人工检查机身和接口，安装底盖、贴标签并锁螺丝，检查盖板平整和螺丝齐全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设备/工具：可使用扫码器、电批、手持仪表或工装；使用工具仍属于人工操作。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原第13页 · E04  复测、脚垫安装与称重  【明确人工】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96896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人工：人工安装四角脚垫并称重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设备/工具：仪器/测试电脑执行测量或程序判定，人工完成操作与结果处置。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21024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原第14页 · E05  扬声器与麦克风测试  【明确人工】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50208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人工：人工连接 USB 并将整机接入测试系统，电脑执行音频测试，完成后放回流水线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553712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设备/工具：仪器/测试电脑执行测量或程序判定，人工完成操作与结果处置。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74336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原第14页 · E06  警示标签、外观检查与清洁  【明确人工】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303520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人工：人工贴警示标签，检查并擦拭整机，再扫描产品标签确认无遗漏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907023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设备/工具：可使用扫码器、电批、手持仪表或工装；使用工具仍属于人工操作。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2200">
                <a:solidFill>
                  <a:srgbClr val="243448"/>
                </a:solidFill>
                <a:latin typeface="Noto Sans CJK SC"/>
              </a:defRPr>
            </a:pPr>
            <a:r>
              <a:t>人工操作逐项标注  | 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400">
                <a:solidFill>
                  <a:srgbClr val="C24135"/>
                </a:solidFill>
                <a:latin typeface="Noto Sans CJK SC"/>
              </a:defRPr>
            </a:pPr>
            <a:r>
              <a:t>原第14页 · E07  装盒、放入配件与装箱  【明确人工】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43584"/>
            <a:ext cx="10881360" cy="59436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200">
                <a:solidFill>
                  <a:srgbClr val="243448"/>
                </a:solidFill>
                <a:latin typeface="Noto Sans CJK SC"/>
              </a:defRPr>
            </a:pPr>
            <a:r>
              <a:t>人工：人工准备保护材料并将整机装入产品包装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10881360" cy="374904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1000">
                <a:solidFill>
                  <a:srgbClr val="58677A"/>
                </a:solidFill>
                <a:latin typeface="Noto Sans CJK SC"/>
              </a:defRPr>
            </a:pPr>
            <a:r>
              <a:t>设备/工具：可使用扫码器、电批、手持仪表或工装；使用工具仍属于人工操作。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64240" cy="228600"/>
          </a:xfrm>
          <a:prstGeom prst="rect">
            <a:avLst/>
          </a:prstGeom>
          <a:noFill/>
        </p:spPr>
        <p:txBody>
          <a:bodyPr wrap="square" lIns="64008" rIns="64008" tIns="27432" bIns="0">
            <a:spAutoFit/>
          </a:bodyPr>
          <a:lstStyle/>
          <a:p>
            <a:pPr>
              <a:defRPr sz="900">
                <a:solidFill>
                  <a:srgbClr val="58677A"/>
                </a:solidFill>
                <a:latin typeface="Noto Sans CJK SC"/>
              </a:defRPr>
            </a:pPr>
            <a:r>
              <a:t>✓ 表示原文明确存在人工动作；其余“典型”分工均需现场确认。原文工艺名称及参数待核项继续保留。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3536</Words>
  <Application>WPS 演示</Application>
  <PresentationFormat>Converted Presentation</PresentationFormat>
  <Paragraphs>470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Noto Sans CJK SC</vt:lpstr>
      <vt:lpstr>Segoe Print</vt:lpstr>
      <vt:lpstr>微软雅黑</vt:lpstr>
      <vt:lpstr>Arial Unicode MS</vt:lpstr>
      <vt:lpstr>Aptos</vt:lpstr>
      <vt:lpstr>Segoe UI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WPS_1791966835</cp:lastModifiedBy>
  <cp:revision>1</cp:revision>
  <dcterms:created xsi:type="dcterms:W3CDTF">2026-10-23T08:01:45Z</dcterms:created>
  <dcterms:modified xsi:type="dcterms:W3CDTF">2026-10-23T08:01:45Z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0CA825E2EE4D4F01BA475CEF4413E01B_13</vt:lpwstr>
  </property>
  <property fmtid="{D5CDD505-2E9C-101B-9397-08002B2CF9AE}" pid="3" name="KSOProductBuildVer">
    <vt:lpwstr>2052-12.1.0.29162</vt:lpwstr>
  </property>
</Properties>
</file>